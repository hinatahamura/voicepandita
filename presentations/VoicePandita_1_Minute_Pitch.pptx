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0:00–0:17 — In Bangladesh, a student's access to a great tutor still depends on language, bandwidth, and ability. English-first tools, unstable internet, and inaccessible formats leave too many learners behind. VoicePandita was built to close that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0:17–0:42 — Our live prototype lets a student ask by voice, text, photo, or PDF. It grounds answers in curriculum context, then explains in Bangla through text, voice, diagrams, and a prototype BdSL avatar. Offline packs and deterministic fallbacks keep learning available when connectivity or AI providers fail.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0:42–1:00 — We now want to move from a Top 100 hackathon prototype to validated inclusive learning infrastructure. We are seeking research partners, school pilots, incubation, and market-entry guidance. Our vision is simple: every learner deserves a tutor that speaks their language—and understands their reality. We would love to build that next stage with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183879" y="0"/>
            <a:ext cx="4007815" cy="6858000"/>
          </a:xfrm>
          <a:prstGeom prst="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47472"/>
            <a:ext cx="457200" cy="457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" y="3931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724"/>
                </a:solidFill>
                <a:latin typeface="Aptos"/>
              </a:rPr>
              <a:t>VoicePandita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3931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4696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170432"/>
            <a:ext cx="704088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05684E"/>
                </a:solidFill>
                <a:latin typeface="Aptos"/>
              </a:rPr>
              <a:t>A great tutor should not depend 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682496"/>
            <a:ext cx="7178040" cy="1600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700" b="1">
                <a:solidFill>
                  <a:srgbClr val="122724"/>
                </a:solidFill>
                <a:latin typeface="Aptos"/>
              </a:rPr>
              <a:t>language, bandwidth,
or ability.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" y="3547872"/>
            <a:ext cx="6903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0">
                <a:solidFill>
                  <a:srgbClr val="546964"/>
                </a:solidFill>
                <a:latin typeface="Aptos"/>
              </a:rPr>
              <a:t>Yet millions of learners are still excluded by English-first tools, unstable internet, and inaccessible formats.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782312"/>
            <a:ext cx="6903720" cy="1051560"/>
          </a:xfrm>
          <a:prstGeom prst="roundRect">
            <a:avLst/>
          </a:prstGeom>
          <a:solidFill>
            <a:srgbClr val="DE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832104" y="4983480"/>
            <a:ext cx="658368" cy="658368"/>
          </a:xfrm>
          <a:prstGeom prst="ellipse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বাংলা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91640" y="5010912"/>
            <a:ext cx="548640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22724"/>
                </a:solidFill>
                <a:latin typeface="Aptos"/>
              </a:rPr>
              <a:t>VoicePandita brings the tutor to the learner—
in the way they can learn best.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41080" y="960120"/>
            <a:ext cx="24688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>
                <a:solidFill>
                  <a:srgbClr val="F7B520"/>
                </a:solidFill>
                <a:latin typeface="Aptos"/>
              </a:rPr>
              <a:t>THE GAP</a:t>
            </a:r>
          </a:p>
        </p:txBody>
      </p:sp>
      <p:sp>
        <p:nvSpPr>
          <p:cNvPr id="14" name="Oval 13"/>
          <p:cNvSpPr/>
          <p:nvPr/>
        </p:nvSpPr>
        <p:spPr>
          <a:xfrm>
            <a:off x="8622792" y="1481328"/>
            <a:ext cx="502920" cy="502920"/>
          </a:xfrm>
          <a:prstGeom prst="ellipse">
            <a:avLst/>
          </a:prstGeom>
          <a:solidFill>
            <a:srgbClr val="F7B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2724"/>
                </a:solidFill>
                <a:latin typeface="Aptos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146304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Language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182880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FE6"/>
                </a:solidFill>
                <a:latin typeface="Aptos"/>
              </a:rPr>
              <a:t>Bangla and indigenous learners</a:t>
            </a:r>
          </a:p>
        </p:txBody>
      </p:sp>
      <p:sp>
        <p:nvSpPr>
          <p:cNvPr id="17" name="Oval 16"/>
          <p:cNvSpPr/>
          <p:nvPr/>
        </p:nvSpPr>
        <p:spPr>
          <a:xfrm>
            <a:off x="8622792" y="2898648"/>
            <a:ext cx="502920" cy="502920"/>
          </a:xfrm>
          <a:prstGeom prst="ellipse">
            <a:avLst/>
          </a:prstGeom>
          <a:solidFill>
            <a:srgbClr val="F7B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2724"/>
                </a:solidFill>
                <a:latin typeface="Aptos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88036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Connectivity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24612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FE6"/>
                </a:solidFill>
                <a:latin typeface="Aptos"/>
              </a:rPr>
              <a:t>Low-data and offline contexts</a:t>
            </a:r>
          </a:p>
        </p:txBody>
      </p:sp>
      <p:sp>
        <p:nvSpPr>
          <p:cNvPr id="20" name="Oval 19"/>
          <p:cNvSpPr/>
          <p:nvPr/>
        </p:nvSpPr>
        <p:spPr>
          <a:xfrm>
            <a:off x="8622792" y="4315968"/>
            <a:ext cx="502920" cy="502920"/>
          </a:xfrm>
          <a:prstGeom prst="ellipse">
            <a:avLst/>
          </a:prstGeom>
          <a:solidFill>
            <a:srgbClr val="F7B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122724"/>
                </a:solidFill>
                <a:latin typeface="Aptos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2286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100" b="1">
                <a:solidFill>
                  <a:srgbClr val="FFFFFF"/>
                </a:solidFill>
                <a:latin typeface="Aptos"/>
              </a:rPr>
              <a:t>Accessibility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0" y="4663440"/>
            <a:ext cx="233172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>
                <a:solidFill>
                  <a:srgbClr val="D5EFE6"/>
                </a:solidFill>
                <a:latin typeface="Aptos"/>
              </a:rPr>
              <a:t>Deaf learners and varied needs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8912" y="6510528"/>
            <a:ext cx="11292840" cy="13716"/>
          </a:xfrm>
          <a:prstGeom prst="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655624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46964"/>
                </a:solidFill>
                <a:latin typeface="Aptos"/>
              </a:rPr>
              <a:t>1-minute opportunity pitch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09760" y="6556248"/>
            <a:ext cx="22219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5684E"/>
                </a:solidFill>
                <a:latin typeface="Aptos"/>
              </a:rPr>
              <a:t>AI Build Fest • Top 100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4747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931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724"/>
                </a:solidFill>
                <a:latin typeface="Aptos"/>
              </a:rPr>
              <a:t>VoicePandita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931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46964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60704"/>
            <a:ext cx="80467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500" b="1">
                <a:solidFill>
                  <a:srgbClr val="122724"/>
                </a:solidFill>
                <a:latin typeface="Aptos"/>
              </a:rPr>
              <a:t>Ask by voice. Learn with context.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648" y="1737360"/>
            <a:ext cx="704088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05684E"/>
                </a:solidFill>
                <a:latin typeface="Aptos"/>
              </a:rPr>
              <a:t>A Bangladesh-first AI learning companion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514600"/>
            <a:ext cx="2514600" cy="2240280"/>
          </a:xfrm>
          <a:prstGeom prst="roundRect">
            <a:avLst/>
          </a:prstGeom>
          <a:solidFill>
            <a:srgbClr val="DEF7EF"/>
          </a:solidFill>
          <a:ln>
            <a:solidFill>
              <a:srgbClr val="C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13816" y="2724912"/>
            <a:ext cx="502920" cy="502920"/>
          </a:xfrm>
          <a:prstGeom prst="ellipse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" y="3401568"/>
            <a:ext cx="20848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684E"/>
                </a:solidFill>
                <a:latin typeface="Aptos"/>
              </a:rPr>
              <a:t>ASK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6" y="3785615"/>
            <a:ext cx="2084831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724"/>
                </a:solidFill>
                <a:latin typeface="Aptos"/>
              </a:rPr>
              <a:t>Voice • text • photo • PDF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45536" y="33375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684E"/>
                </a:solidFill>
                <a:latin typeface="Aptos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514600"/>
            <a:ext cx="2514600" cy="2240280"/>
          </a:xfrm>
          <a:prstGeom prst="roundRect">
            <a:avLst/>
          </a:prstGeom>
          <a:solidFill>
            <a:srgbClr val="F7FAF7"/>
          </a:solidFill>
          <a:ln>
            <a:solidFill>
              <a:srgbClr val="C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30168" y="2724912"/>
            <a:ext cx="502920" cy="502920"/>
          </a:xfrm>
          <a:prstGeom prst="ellipse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30168" y="3401568"/>
            <a:ext cx="20848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684E"/>
                </a:solidFill>
                <a:latin typeface="Aptos"/>
              </a:rPr>
              <a:t>GROUND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3785615"/>
            <a:ext cx="2084831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724"/>
                </a:solidFill>
                <a:latin typeface="Aptos"/>
              </a:rPr>
              <a:t>Curriculum + retrieval context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61888" y="33375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684E"/>
                </a:solidFill>
                <a:latin typeface="Aptos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45352" y="2514600"/>
            <a:ext cx="2514600" cy="2240280"/>
          </a:xfrm>
          <a:prstGeom prst="roundRect">
            <a:avLst/>
          </a:prstGeom>
          <a:solidFill>
            <a:srgbClr val="DEF7EF"/>
          </a:solidFill>
          <a:ln>
            <a:solidFill>
              <a:srgbClr val="C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6446520" y="2724912"/>
            <a:ext cx="502920" cy="502920"/>
          </a:xfrm>
          <a:prstGeom prst="ellipse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46520" y="3401568"/>
            <a:ext cx="20848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684E"/>
                </a:solidFill>
                <a:latin typeface="Aptos"/>
              </a:rPr>
              <a:t>EXPLAIN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46520" y="3785615"/>
            <a:ext cx="2084831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724"/>
                </a:solidFill>
                <a:latin typeface="Aptos"/>
              </a:rPr>
              <a:t>Bangla • visual • voice • BdSL*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78240" y="3337560"/>
            <a:ext cx="2743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200" b="1">
                <a:solidFill>
                  <a:srgbClr val="05684E"/>
                </a:solidFill>
                <a:latin typeface="Aptos"/>
              </a:rP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61704" y="2514600"/>
            <a:ext cx="2514600" cy="2240280"/>
          </a:xfrm>
          <a:prstGeom prst="roundRect">
            <a:avLst/>
          </a:prstGeom>
          <a:solidFill>
            <a:srgbClr val="F7FAF7"/>
          </a:solidFill>
          <a:ln>
            <a:solidFill>
              <a:srgbClr val="CDE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262872" y="2724912"/>
            <a:ext cx="502920" cy="502920"/>
          </a:xfrm>
          <a:prstGeom prst="ellipse">
            <a:avLst/>
          </a:prstGeom>
          <a:solidFill>
            <a:srgbClr val="F7B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400" b="1">
                <a:solidFill>
                  <a:srgbClr val="122724"/>
                </a:solidFill>
                <a:latin typeface="Aptos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62872" y="3401568"/>
            <a:ext cx="2084831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05684E"/>
                </a:solidFill>
                <a:latin typeface="Aptos"/>
              </a:rPr>
              <a:t>CONTINUE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62872" y="3785615"/>
            <a:ext cx="2084831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1">
                <a:solidFill>
                  <a:srgbClr val="122724"/>
                </a:solidFill>
                <a:latin typeface="Aptos"/>
              </a:rPr>
              <a:t>Offline fallback + learning memory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2648" y="5102352"/>
            <a:ext cx="10972800" cy="841248"/>
          </a:xfrm>
          <a:prstGeom prst="round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5358384"/>
            <a:ext cx="1508760" cy="2377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>
                <a:solidFill>
                  <a:srgbClr val="F7B520"/>
                </a:solidFill>
                <a:latin typeface="Aptos"/>
              </a:rPr>
              <a:t>LIVE PROTOTYPE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14600" y="5294376"/>
            <a:ext cx="86410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FFFFFF"/>
                </a:solidFill>
                <a:latin typeface="Aptos"/>
              </a:rPr>
              <a:t>Next.js PWA  •  Supabase/pgvector  •  AI provider fallbacks  •  privacy-aware design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99048"/>
            <a:ext cx="99669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546964"/>
                </a:solidFill>
                <a:latin typeface="Aptos"/>
              </a:rPr>
              <a:t>* BdSL text-to-sign playback is a prototype; low-resource language output uses verified-first safeguards.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38912" y="6510528"/>
            <a:ext cx="11292840" cy="13716"/>
          </a:xfrm>
          <a:prstGeom prst="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655624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46964"/>
                </a:solidFill>
                <a:latin typeface="Aptos"/>
              </a:rPr>
              <a:t>Implemented in current branch; claims scoped to prototype status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6556248"/>
            <a:ext cx="22219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5684E"/>
                </a:solidFill>
                <a:latin typeface="Aptos"/>
              </a:rPr>
              <a:t>AI Build Fest • Top 100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icon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" y="347472"/>
            <a:ext cx="457200" cy="457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87552" y="393192"/>
            <a:ext cx="2103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122724"/>
                </a:solidFill>
                <a:latin typeface="Aptos"/>
              </a:rPr>
              <a:t>VoicePandita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292840" y="393192"/>
            <a:ext cx="411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1">
                <a:solidFill>
                  <a:srgbClr val="546964"/>
                </a:solidFill>
                <a:latin typeface="Aptos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68580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122724"/>
                </a:solidFill>
                <a:latin typeface="Aptos"/>
              </a:rPr>
              <a:t>From prototype 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554480"/>
            <a:ext cx="717804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>
                <a:solidFill>
                  <a:srgbClr val="05684E"/>
                </a:solidFill>
                <a:latin typeface="Aptos"/>
              </a:rPr>
              <a:t>inclusive learning infrastructure.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2532888"/>
            <a:ext cx="67208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3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12648" y="2532888"/>
            <a:ext cx="91440" cy="768096"/>
          </a:xfrm>
          <a:prstGeom prst="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68833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05684E"/>
                </a:solidFill>
                <a:latin typeface="Aptos"/>
              </a:rPr>
              <a:t>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48840" y="265176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724"/>
                </a:solidFill>
                <a:latin typeface="Aptos"/>
              </a:rPr>
              <a:t>Validate learning gains, low-resource language safety, and accessible AI tutoring.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" y="3493008"/>
            <a:ext cx="67208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3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648" y="3493008"/>
            <a:ext cx="91440" cy="768096"/>
          </a:xfrm>
          <a:prstGeom prst="rect">
            <a:avLst/>
          </a:prstGeom>
          <a:solidFill>
            <a:srgbClr val="108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364845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108482"/>
                </a:solidFill>
                <a:latin typeface="Aptos"/>
              </a:rPr>
              <a:t>PILOTS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48840" y="361188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724"/>
                </a:solidFill>
                <a:latin typeface="Aptos"/>
              </a:rPr>
              <a:t>Co-design with schools and communities in low-connectivity settings.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2648" y="4453128"/>
            <a:ext cx="6720840" cy="768096"/>
          </a:xfrm>
          <a:prstGeom prst="roundRect">
            <a:avLst/>
          </a:prstGeom>
          <a:solidFill>
            <a:srgbClr val="FFFFFF"/>
          </a:solidFill>
          <a:ln>
            <a:solidFill>
              <a:srgbClr val="D3E2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" y="4453128"/>
            <a:ext cx="91440" cy="768096"/>
          </a:xfrm>
          <a:prstGeom prst="rect">
            <a:avLst/>
          </a:prstGeom>
          <a:solidFill>
            <a:srgbClr val="A1710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608576"/>
            <a:ext cx="1325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A17109"/>
                </a:solidFill>
                <a:latin typeface="Aptos"/>
              </a:rPr>
              <a:t>SCALE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48840" y="4572000"/>
            <a:ext cx="48463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>
                <a:solidFill>
                  <a:srgbClr val="122724"/>
                </a:solidFill>
                <a:latin typeface="Aptos"/>
              </a:rPr>
              <a:t>Build a sustainable Bangladesh launch and adapt the platform for global underserved markets.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882127" y="1115568"/>
            <a:ext cx="3703320" cy="4828032"/>
          </a:xfrm>
          <a:prstGeom prst="round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1572768"/>
            <a:ext cx="18288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>
                <a:solidFill>
                  <a:srgbClr val="F7B520"/>
                </a:solidFill>
                <a:latin typeface="Aptos"/>
              </a:rPr>
              <a:t>OUR ASK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2011680"/>
            <a:ext cx="283464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Help us prove,
pilot, and scale.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3419856"/>
            <a:ext cx="27889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1">
                <a:solidFill>
                  <a:srgbClr val="DEF7EF"/>
                </a:solidFill>
                <a:latin typeface="Aptos"/>
              </a:rPr>
              <a:t>Research partners
School pilot access
Incubation &amp; mentorship
Market-entry guidance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75320" y="5193792"/>
            <a:ext cx="2697480" cy="457200"/>
          </a:xfrm>
          <a:prstGeom prst="roundRect">
            <a:avLst/>
          </a:prstGeom>
          <a:solidFill>
            <a:srgbClr val="F7B5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348472" y="532180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1">
                <a:solidFill>
                  <a:srgbClr val="122724"/>
                </a:solidFill>
                <a:latin typeface="Aptos"/>
              </a:rPr>
              <a:t>voice-pandita.vercel.app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" y="5815584"/>
            <a:ext cx="69037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1">
                <a:solidFill>
                  <a:srgbClr val="122724"/>
                </a:solidFill>
                <a:latin typeface="Aptos"/>
              </a:rPr>
              <a:t>Every learner deserves a tutor that speaks their language—and understands their reality.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6510528"/>
            <a:ext cx="11292840" cy="13716"/>
          </a:xfrm>
          <a:prstGeom prst="rect">
            <a:avLst/>
          </a:prstGeom>
          <a:solidFill>
            <a:srgbClr val="0568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8912" y="655624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900" b="0">
                <a:solidFill>
                  <a:srgbClr val="546964"/>
                </a:solidFill>
                <a:latin typeface="Aptos"/>
              </a:rPr>
              <a:t>Opportunity: research • incubation • commercialization • global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09760" y="6556248"/>
            <a:ext cx="2221992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900" b="1">
                <a:solidFill>
                  <a:srgbClr val="05684E"/>
                </a:solidFill>
                <a:latin typeface="Aptos"/>
              </a:rPr>
              <a:t>AI Build Fest • Top 100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VoicePandita — 1 Minute Opportunity Pitch</dc:title>
  <dc:subject>Beyond the Build webinar pitch</dc:subject>
  <dc:creator>VoicePandita Team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